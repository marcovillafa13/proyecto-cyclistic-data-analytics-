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fa863cc7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fa863cc7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fa863cc7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fa863cc7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fa863cc7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fa863cc7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fa863cc7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fa863cc7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fa863cc7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fa863cc7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225975" y="607875"/>
            <a:ext cx="85206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</a:t>
            </a:r>
            <a:r>
              <a:rPr lang="es"/>
              <a:t> del comportamiento de usuarios de Cyclistic: </a:t>
            </a:r>
            <a:r>
              <a:rPr lang="es"/>
              <a:t>Duración</a:t>
            </a:r>
            <a:r>
              <a:rPr lang="es"/>
              <a:t> y frecuencias de viaje por tiempo de </a:t>
            </a:r>
            <a:r>
              <a:rPr lang="es"/>
              <a:t>membresía.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714850" y="37456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Presentador: Marco Villafañe</a:t>
            </a:r>
            <a:br>
              <a:rPr lang="es">
                <a:solidFill>
                  <a:schemeClr val="lt1"/>
                </a:solidFill>
              </a:rPr>
            </a:br>
            <a:r>
              <a:rPr lang="es">
                <a:solidFill>
                  <a:schemeClr val="lt1"/>
                </a:solidFill>
              </a:rPr>
              <a:t>Fecha: Enero - 2026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35100" y="874975"/>
            <a:ext cx="3706500" cy="37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220"/>
              <a:t>Entender las diferencias de uso entre ciclistas ocasionales y miembros actuales para diseñar estrategias que aumenten las membrecias</a:t>
            </a:r>
            <a:endParaRPr sz="222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784950" y="968500"/>
            <a:ext cx="4166400" cy="3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Miembros anuales son </a:t>
            </a:r>
            <a:r>
              <a:rPr lang="es"/>
              <a:t>más</a:t>
            </a:r>
            <a:r>
              <a:rPr lang="es"/>
              <a:t> rentables, pero una gran parte de los usuarios utiliza pases ocasionales.</a:t>
            </a:r>
            <a:br>
              <a:rPr lang="e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¿</a:t>
            </a:r>
            <a:r>
              <a:rPr lang="es"/>
              <a:t>Cómo</a:t>
            </a:r>
            <a:r>
              <a:rPr lang="es"/>
              <a:t> utilizan las bicicletas los usuarios casuales vs los miembros y </a:t>
            </a:r>
            <a:r>
              <a:rPr lang="es"/>
              <a:t>cómo</a:t>
            </a:r>
            <a:r>
              <a:rPr lang="es"/>
              <a:t> podemos convertir a los casuales en miembros?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Duración</a:t>
            </a:r>
            <a:r>
              <a:rPr lang="es" sz="1800"/>
              <a:t> promedio de viajes por tipo de usuario.</a:t>
            </a:r>
            <a:endParaRPr sz="12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68050" y="1358163"/>
            <a:ext cx="41664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Los usuarios casuales tienen viajes muchos </a:t>
            </a:r>
            <a:r>
              <a:rPr lang="es" sz="1400"/>
              <a:t>más</a:t>
            </a:r>
            <a:r>
              <a:rPr lang="es" sz="1400"/>
              <a:t> largos que los miembros.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Los usuarios casuales realizan un uso </a:t>
            </a:r>
            <a:r>
              <a:rPr lang="es" sz="1400"/>
              <a:t>más</a:t>
            </a:r>
            <a:r>
              <a:rPr lang="es" sz="1400"/>
              <a:t> recreativo.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Los miembros utilizan la bicicleta como transporte diario y rutinario (laboral).</a:t>
            </a:r>
            <a:endParaRPr sz="1400"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738" y="1410675"/>
            <a:ext cx="3206475" cy="248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450" y="4074545"/>
            <a:ext cx="1627050" cy="93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Uso de </a:t>
            </a:r>
            <a:r>
              <a:rPr lang="es" sz="1800"/>
              <a:t>bicicletas</a:t>
            </a:r>
            <a:r>
              <a:rPr lang="es" sz="1800"/>
              <a:t> por </a:t>
            </a:r>
            <a:r>
              <a:rPr lang="es" sz="1800"/>
              <a:t>día</a:t>
            </a:r>
            <a:r>
              <a:rPr lang="es" sz="1800"/>
              <a:t> de la semana y tipo de usuario</a:t>
            </a:r>
            <a:endParaRPr sz="1800"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52475" y="1365975"/>
            <a:ext cx="4166400" cy="31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Los ciclistas casuales concentran su uso los fines de semana.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Los miembros mantienen un uso constante durante toda la semana.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Los casuales viajan </a:t>
            </a:r>
            <a:r>
              <a:rPr lang="es" sz="1400"/>
              <a:t>más</a:t>
            </a:r>
            <a:r>
              <a:rPr lang="es" sz="1400"/>
              <a:t> tiempo pero con menor frecuencia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Los miembros viajan menos tiempo pero de forma constante.</a:t>
            </a:r>
            <a:endParaRPr sz="1400"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400" y="1687850"/>
            <a:ext cx="3325150" cy="26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Recomendaciones</a:t>
            </a:r>
            <a:endParaRPr sz="4000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42950" y="2737075"/>
            <a:ext cx="5891700" cy="13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Activar promociones de m</a:t>
            </a:r>
            <a:r>
              <a:rPr lang="es" sz="1500"/>
              <a:t>embresía</a:t>
            </a:r>
            <a:r>
              <a:rPr lang="es" sz="1500"/>
              <a:t> los fines de semana.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Comunicación</a:t>
            </a:r>
            <a:r>
              <a:rPr lang="es" sz="1500"/>
              <a:t> clara del ahorro frente a viajes largos.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Ofertas personalizadas tras viajes de usuarios casuales.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tiempo!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543325" y="2665275"/>
            <a:ext cx="20574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¿Preguntas?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